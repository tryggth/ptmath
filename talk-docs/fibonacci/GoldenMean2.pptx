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76" r:id="rId5"/>
    <p:sldId id="260" r:id="rId6"/>
    <p:sldId id="265" r:id="rId7"/>
    <p:sldId id="274" r:id="rId8"/>
    <p:sldId id="261" r:id="rId9"/>
    <p:sldId id="273" r:id="rId10"/>
    <p:sldId id="275" r:id="rId11"/>
    <p:sldId id="262" r:id="rId12"/>
    <p:sldId id="266" r:id="rId13"/>
    <p:sldId id="267" r:id="rId14"/>
    <p:sldId id="263" r:id="rId15"/>
    <p:sldId id="259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8E7"/>
    <a:srgbClr val="E1C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2B5216-6EC1-4E1E-9ECE-0BB9DAF83D91}" v="106" dt="2025-09-21T16:26:40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Ward" userId="4598b928247da06e" providerId="LiveId" clId="{2022529A-8ADA-4F8D-B35E-18DEE32D8C10}"/>
    <pc:docChg chg="custSel modSld">
      <pc:chgData name="John Ward" userId="4598b928247da06e" providerId="LiveId" clId="{2022529A-8ADA-4F8D-B35E-18DEE32D8C10}" dt="2025-09-21T16:26:40.632" v="109" actId="20577"/>
      <pc:docMkLst>
        <pc:docMk/>
      </pc:docMkLst>
      <pc:sldChg chg="modSp modAnim">
        <pc:chgData name="John Ward" userId="4598b928247da06e" providerId="LiveId" clId="{2022529A-8ADA-4F8D-B35E-18DEE32D8C10}" dt="2025-09-21T16:24:05.400" v="8" actId="6549"/>
        <pc:sldMkLst>
          <pc:docMk/>
          <pc:sldMk cId="2598633675" sldId="258"/>
        </pc:sldMkLst>
        <pc:spChg chg="mod">
          <ac:chgData name="John Ward" userId="4598b928247da06e" providerId="LiveId" clId="{2022529A-8ADA-4F8D-B35E-18DEE32D8C10}" dt="2025-09-21T16:24:05.400" v="8" actId="6549"/>
          <ac:spMkLst>
            <pc:docMk/>
            <pc:sldMk cId="2598633675" sldId="258"/>
            <ac:spMk id="3" creationId="{8E6BBE38-511E-88B0-3BF3-A9FDB59B75F5}"/>
          </ac:spMkLst>
        </pc:spChg>
      </pc:sldChg>
      <pc:sldChg chg="modSp mod modAnim">
        <pc:chgData name="John Ward" userId="4598b928247da06e" providerId="LiveId" clId="{2022529A-8ADA-4F8D-B35E-18DEE32D8C10}" dt="2025-09-21T16:26:40.632" v="109" actId="20577"/>
        <pc:sldMkLst>
          <pc:docMk/>
          <pc:sldMk cId="2808521603" sldId="276"/>
        </pc:sldMkLst>
        <pc:spChg chg="mod">
          <ac:chgData name="John Ward" userId="4598b928247da06e" providerId="LiveId" clId="{2022529A-8ADA-4F8D-B35E-18DEE32D8C10}" dt="2025-09-21T16:26:40.632" v="109" actId="20577"/>
          <ac:spMkLst>
            <pc:docMk/>
            <pc:sldMk cId="2808521603" sldId="276"/>
            <ac:spMk id="2" creationId="{939F5F79-4EA0-DE11-1339-A6613B380C33}"/>
          </ac:spMkLst>
        </pc:spChg>
        <pc:spChg chg="mod">
          <ac:chgData name="John Ward" userId="4598b928247da06e" providerId="LiveId" clId="{2022529A-8ADA-4F8D-B35E-18DEE32D8C10}" dt="2025-09-21T16:26:02.039" v="108" actId="20577"/>
          <ac:spMkLst>
            <pc:docMk/>
            <pc:sldMk cId="2808521603" sldId="276"/>
            <ac:spMk id="3" creationId="{2DD10859-3765-3207-C2A4-5C4D7C4BCE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C56B2-F4CD-4228-9221-EDF3E1A89AEB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B4843-1BB9-4647-9440-1873EC81F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7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B4843-1BB9-4647-9440-1873EC81F3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0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8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3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3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6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3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48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5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1746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7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1550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85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8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089F-7E3B-424A-97FF-C02676F8EF2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571986B-891F-4E98-947C-9E3AF894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1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0BD6-719C-EF3E-D13A-D294C63A7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Golden Mean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1857C-F9A5-E266-4A29-01CA0D3A06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Problem 11651</a:t>
            </a:r>
          </a:p>
        </p:txBody>
      </p:sp>
    </p:spTree>
    <p:extLst>
      <p:ext uri="{BB962C8B-B14F-4D97-AF65-F5344CB8AC3E}">
        <p14:creationId xmlns:p14="http://schemas.microsoft.com/office/powerpoint/2010/main" val="15635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49CF-4DD3-E4FA-7653-56A9E6BD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11651 – American Mathematical Monthly, June/July 2012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618C99-C52F-38A1-E84A-52A516DB27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Show that the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−⋯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holds for all natural numbers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aka “The Golden Mean”.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618C99-C52F-38A1-E84A-52A516DB27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47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1FB922-26EF-28FC-670C-B93A495541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92925" y="460824"/>
                <a:ext cx="8911687" cy="1280890"/>
              </a:xfrm>
            </p:spPr>
            <p:txBody>
              <a:bodyPr/>
              <a:lstStyle/>
              <a:p>
                <a:r>
                  <a:rPr lang="en-US" dirty="0"/>
                  <a:t>Huh?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 (greatest integer function)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1FB922-26EF-28FC-670C-B93A495541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2925" y="460824"/>
                <a:ext cx="8911687" cy="1280890"/>
              </a:xfrm>
              <a:blipFill>
                <a:blip r:embed="rId2"/>
                <a:stretch>
                  <a:fillRect l="-2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BBE38-511E-88B0-3BF3-A9FDB59B75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741714"/>
                <a:ext cx="8915400" cy="416950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the greatest integer less than or equal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,  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 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−2.2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US" dirty="0"/>
                  <a:t>, and so on.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 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so on.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BBE38-511E-88B0-3BF3-A9FDB59B75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741714"/>
                <a:ext cx="8915400" cy="4169508"/>
              </a:xfrm>
              <a:blipFill>
                <a:blip r:embed="rId3"/>
                <a:stretch>
                  <a:fillRect l="-684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63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EE7B8-A7C5-2811-09B7-BD785FDF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9F5F79-4EA0-DE11-1339-A6613B380C3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92925" y="460824"/>
                <a:ext cx="8911687" cy="12808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Notation for sanity: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9F5F79-4EA0-DE11-1339-A6613B380C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2925" y="460824"/>
                <a:ext cx="8911687" cy="1280890"/>
              </a:xfrm>
              <a:blipFill>
                <a:blip r:embed="rId2"/>
                <a:stretch>
                  <a:fillRect l="-2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D10859-3765-3207-C2A4-5C4D7C4BC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741714"/>
                <a:ext cx="8915400" cy="416950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For some fixed real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define the “parent” function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⌊"/>
                        <m:endChr m:val="⌋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r>
                  <a:rPr lang="en-US" dirty="0"/>
                  <a:t>As a shorthand, we can use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For example,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=34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(34)=</m:t>
                    </m:r>
                    <m:d>
                      <m:dPr>
                        <m:begChr m:val="⌊"/>
                        <m:endChr m:val="⌋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(11)=</m:t>
                    </m:r>
                    <m:d>
                      <m:dPr>
                        <m:begChr m:val="⌊"/>
                        <m:endChr m:val="⌋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(3)=</m:t>
                    </m:r>
                    <m:d>
                      <m:dPr>
                        <m:begChr m:val="⌊"/>
                        <m:endChr m:val="⌋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D10859-3765-3207-C2A4-5C4D7C4BC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741714"/>
                <a:ext cx="8915400" cy="4169508"/>
              </a:xfrm>
              <a:blipFill>
                <a:blip r:embed="rId3"/>
                <a:stretch>
                  <a:fillRect l="-274"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852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BF79-F582-6186-E474-2AA66FA7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– the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B2701-2AFA-3E0E-06CC-2AC4A1F59A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and any natural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define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B2701-2AFA-3E0E-06CC-2AC4A1F59A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87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69B864-C6FF-81A8-3632-220409ED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089B-FA09-CA88-03B0-CB7D654E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Profound observation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C4E0D-3A74-5BE7-81B2-58175CFBBD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and any natural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define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endParaRPr lang="en-US" sz="2000" dirty="0"/>
              </a:p>
              <a:p>
                <a:r>
                  <a:rPr lang="en-US" dirty="0"/>
                  <a:t>The sum contains a copy of itself!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−⋯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C4E0D-3A74-5BE7-81B2-58175CFBBD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74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E21D7-106B-A717-0298-C07D8DB7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2C29A0-8222-1C19-CA97-7CFEEC754E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</p:spPr>
            <p:txBody>
              <a:bodyPr/>
              <a:lstStyle/>
              <a:p>
                <a:r>
                  <a:rPr lang="en-US" dirty="0"/>
                  <a:t>Comparing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2C29A0-8222-1C19-CA97-7CFEEC754E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  <a:blipFill>
                <a:blip r:embed="rId2"/>
                <a:stretch>
                  <a:fillRect l="-2052" t="-11811" b="-12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8D9E7-5D24-729C-AF5F-62AEDDA235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</p:spPr>
            <p:txBody>
              <a:bodyPr/>
              <a:lstStyle/>
              <a:p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dirty="0"/>
                  <a:t>.  No particular relation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8D9E7-5D24-729C-AF5F-62AEDDA23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  <a:blipFill>
                <a:blip r:embed="rId3"/>
                <a:stretch>
                  <a:fillRect l="-479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7B33EF-916E-679D-D576-4C009D2CF7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1193403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1−0=1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2−0=2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0E8E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3−1+0=2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4−1+0=3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5−2+0=3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6−2+0=4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7−2+0=5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8−3+1−0=6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9−3+1−0=7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10−4+1−0=7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7B33EF-916E-679D-D576-4C009D2CF7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1193403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5796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1053" r="-200674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450" t="-1053" r="-101126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3" r="-899" b="-656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57377" r="-899" b="-9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57377" r="-89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57377" r="-899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57377" r="-89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557377" r="-89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668333" r="-89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755738" r="-8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55738" r="-89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955738" r="-89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5738" r="-8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269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96FEBD-B834-21DF-110F-DEAF8407C3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</p:spPr>
            <p:txBody>
              <a:bodyPr/>
              <a:lstStyle/>
              <a:p>
                <a:r>
                  <a:rPr lang="en-US" dirty="0"/>
                  <a:t>The goal: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96FEBD-B834-21DF-110F-DEAF8407C3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  <a:blipFill>
                <a:blip r:embed="rId2"/>
                <a:stretch>
                  <a:fillRect l="-2052" t="-11811" b="-12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FCFCB-5616-4DA8-40ED-F119E4848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</p:spPr>
            <p:txBody>
              <a:bodyPr/>
              <a:lstStyle/>
              <a:p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FCFCB-5616-4DA8-40ED-F119E4848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  <a:blipFill>
                <a:blip r:embed="rId3"/>
                <a:stretch>
                  <a:fillRect l="-479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E213B69-BB60-B993-A49F-749D0FC129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1170971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1−0=1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2−1+0=1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3−1+0=2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4−2+1−0=3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5−2+1−0=4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6−3+1−0=4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7−3+1−0=5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8−4+2−1+0=5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9−4+2−1+0=6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10−5+2−1+0=6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E213B69-BB60-B993-A49F-749D0FC129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1170971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5796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1053" r="-200674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450" t="-1053" r="-101126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3" r="-899" b="-656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57377" r="-899" b="-9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57377" r="-89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57377" r="-899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57377" r="-89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557377" r="-89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668333" r="-89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755738" r="-8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55738" r="-89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955738" r="-89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5738" r="-8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514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81BF-6EB2-1BD4-3D7D-2803582A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662CC3-328E-6472-646F-41B97C23121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</p:spPr>
            <p:txBody>
              <a:bodyPr/>
              <a:lstStyle/>
              <a:p>
                <a:r>
                  <a:rPr lang="en-US" dirty="0"/>
                  <a:t>The goal: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662CC3-328E-6472-646F-41B97C231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  <a:blipFill>
                <a:blip r:embed="rId2"/>
                <a:stretch>
                  <a:fillRect l="-2052" t="-11811" b="-12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F86974-2063-B234-A861-435A67B11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</p:spPr>
            <p:txBody>
              <a:bodyPr/>
              <a:lstStyle/>
              <a:p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F86974-2063-B234-A861-435A67B11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  <a:blipFill>
                <a:blip r:embed="rId3"/>
                <a:stretch>
                  <a:fillRect l="-479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26732D3-F581-538F-A6FB-3E6BF61724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050172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1−0=1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2−1+0=1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0E8E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3−2+1−0=2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4−2+1−0=3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5−3+2−1+0=3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6−4+2−1+0=3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7−4+2−1+0=4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8−5+3−2+1=5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9−6+4−2+1=6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10−6+4−2+1=7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26732D3-F581-538F-A6FB-3E6BF61724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050172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5796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1053" r="-200674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450" t="-1053" r="-101126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3" r="-899" b="-656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57377" r="-899" b="-9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57377" r="-89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57377" r="-899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57377" r="-89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557377" r="-89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668333" r="-89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755738" r="-8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55738" r="-89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955738" r="-89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5738" r="-8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71215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E391-5816-D2B1-FEEA-B0C92637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4E3CA8A-9841-C293-812C-2E3AC0C9DFE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</p:spPr>
            <p:txBody>
              <a:bodyPr/>
              <a:lstStyle/>
              <a:p>
                <a:r>
                  <a:rPr lang="en-US" dirty="0"/>
                  <a:t>The goal: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4E3CA8A-9841-C293-812C-2E3AC0C9DF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92925" y="624110"/>
                <a:ext cx="8911687" cy="769261"/>
              </a:xfrm>
              <a:blipFill>
                <a:blip r:embed="rId2"/>
                <a:stretch>
                  <a:fillRect l="-2052" t="-11811" b="-12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58B67A-71F7-AC41-BEB5-5263DF02E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</p:spPr>
            <p:txBody>
              <a:bodyPr/>
              <a:lstStyle/>
              <a:p>
                <a:r>
                  <a:rPr lang="en-US" dirty="0"/>
                  <a:t>Finally, try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=1.6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58B67A-71F7-AC41-BEB5-5263DF02E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480457"/>
                <a:ext cx="8915400" cy="4430765"/>
              </a:xfrm>
              <a:blipFill>
                <a:blip r:embed="rId3"/>
                <a:stretch>
                  <a:fillRect l="-479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A4794-11EE-AC72-978B-22D5F875B2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2639962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𝟔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1−0=1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2−1=1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3−1=2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4−2+1=3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5−3+1=3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6−3+1=4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7−4+2−1=4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8−5+3−1=5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9−5+3−1=6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10−6+3−1=6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A4794-11EE-AC72-978B-22D5F875B2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2639962"/>
                  </p:ext>
                </p:extLst>
              </p:nvPr>
            </p:nvGraphicFramePr>
            <p:xfrm>
              <a:off x="2589212" y="2015066"/>
              <a:ext cx="8122332" cy="42880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7444">
                      <a:extLst>
                        <a:ext uri="{9D8B030D-6E8A-4147-A177-3AD203B41FA5}">
                          <a16:colId xmlns:a16="http://schemas.microsoft.com/office/drawing/2014/main" val="2372314958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2626612660"/>
                        </a:ext>
                      </a:extLst>
                    </a:gridCol>
                    <a:gridCol w="2707444">
                      <a:extLst>
                        <a:ext uri="{9D8B030D-6E8A-4147-A177-3AD203B41FA5}">
                          <a16:colId xmlns:a16="http://schemas.microsoft.com/office/drawing/2014/main" val="3123465526"/>
                        </a:ext>
                      </a:extLst>
                    </a:gridCol>
                  </a:tblGrid>
                  <a:tr h="5796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1053" r="-200674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450" t="-1053" r="-101126" b="-65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3" r="-899" b="-656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517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57377" r="-899" b="-9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3155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57377" r="-89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902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E1CD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57377" r="-899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42639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57377" r="-89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976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557377" r="-89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705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668333" r="-89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0724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755738" r="-8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632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855738" r="-89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967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955738" r="-89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068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5738" r="-8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55134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72520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7ED0-AD55-6D84-7A04-643883EF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it worked all the time…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7232BA-BE5A-590D-A1EB-81C5201AB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22714"/>
                <a:ext cx="8915400" cy="377762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Imagine there’s 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Profound Observation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contains a copy of itself.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)</m:t>
                    </m:r>
                  </m:oMath>
                </a14:m>
                <a:r>
                  <a:rPr lang="en-US" dirty="0"/>
                  <a:t>, so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7232BA-BE5A-590D-A1EB-81C5201AB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22714"/>
                <a:ext cx="8915400" cy="3777622"/>
              </a:xfrm>
              <a:blipFill>
                <a:blip r:embed="rId2"/>
                <a:stretch>
                  <a:fillRect l="-342" t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6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B0FA-783E-CB1E-EA67-6D4159BB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Profound observation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B4908-61B7-78DF-5592-C557D90FB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we can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we don’t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!!!!</a:t>
                </a:r>
              </a:p>
              <a:p>
                <a:pPr lvl="1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  (Should be provable.)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won’t converge.</a:t>
                </a:r>
              </a:p>
              <a:p>
                <a:pPr lvl="1"/>
                <a:r>
                  <a:rPr lang="en-US" dirty="0"/>
                  <a:t>So it’s safe to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In that case,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and we’re off!!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B4908-61B7-78DF-5592-C557D90FB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695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032EB1B-A99C-29DC-C54B-A3173F030C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:r>
                  <a:rPr lang="en-US" dirty="0"/>
                  <a:t>Building the rest…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032EB1B-A99C-29DC-C54B-A3173F030C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52" t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5C2D3-3627-02D7-C9DC-FFBDD8751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…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0+1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=1−0=1</m:t>
                    </m:r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=2−1=1</m:t>
                    </m:r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=3−1=2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5C2D3-3627-02D7-C9DC-FFBDD8751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84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43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362BC3-4A6F-5A68-44B9-8BC2B3CF3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Table of values – assumes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362BC3-4A6F-5A68-44B9-8BC2B3CF3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52" t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DC7BB10-5D5E-A549-A8A9-BD2DBA01ED3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16372964"/>
                  </p:ext>
                </p:extLst>
              </p:nvPr>
            </p:nvGraphicFramePr>
            <p:xfrm>
              <a:off x="2589213" y="1600200"/>
              <a:ext cx="8915400" cy="45110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9644">
                      <a:extLst>
                        <a:ext uri="{9D8B030D-6E8A-4147-A177-3AD203B41FA5}">
                          <a16:colId xmlns:a16="http://schemas.microsoft.com/office/drawing/2014/main" val="958233728"/>
                        </a:ext>
                      </a:extLst>
                    </a:gridCol>
                    <a:gridCol w="1534886">
                      <a:extLst>
                        <a:ext uri="{9D8B030D-6E8A-4147-A177-3AD203B41FA5}">
                          <a16:colId xmlns:a16="http://schemas.microsoft.com/office/drawing/2014/main" val="2437217930"/>
                        </a:ext>
                      </a:extLst>
                    </a:gridCol>
                    <a:gridCol w="1763486">
                      <a:extLst>
                        <a:ext uri="{9D8B030D-6E8A-4147-A177-3AD203B41FA5}">
                          <a16:colId xmlns:a16="http://schemas.microsoft.com/office/drawing/2014/main" val="1695660749"/>
                        </a:ext>
                      </a:extLst>
                    </a:gridCol>
                    <a:gridCol w="1817914">
                      <a:extLst>
                        <a:ext uri="{9D8B030D-6E8A-4147-A177-3AD203B41FA5}">
                          <a16:colId xmlns:a16="http://schemas.microsoft.com/office/drawing/2014/main" val="3647168599"/>
                        </a:ext>
                      </a:extLst>
                    </a:gridCol>
                    <a:gridCol w="2469470">
                      <a:extLst>
                        <a:ext uri="{9D8B030D-6E8A-4147-A177-3AD203B41FA5}">
                          <a16:colId xmlns:a16="http://schemas.microsoft.com/office/drawing/2014/main" val="2258972009"/>
                        </a:ext>
                      </a:extLst>
                    </a:gridCol>
                  </a:tblGrid>
                  <a:tr h="7259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1629248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1−0=1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6772940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2−1=1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006629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3−1=2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956067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4−1=3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9859284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5−2=3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5943212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6−2=4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1833310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7−3=4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012389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8−3=5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1605360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9−3=6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99979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DC7BB10-5D5E-A549-A8A9-BD2DBA01ED3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16372964"/>
                  </p:ext>
                </p:extLst>
              </p:nvPr>
            </p:nvGraphicFramePr>
            <p:xfrm>
              <a:off x="2589213" y="1600200"/>
              <a:ext cx="8915400" cy="45110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9644">
                      <a:extLst>
                        <a:ext uri="{9D8B030D-6E8A-4147-A177-3AD203B41FA5}">
                          <a16:colId xmlns:a16="http://schemas.microsoft.com/office/drawing/2014/main" val="958233728"/>
                        </a:ext>
                      </a:extLst>
                    </a:gridCol>
                    <a:gridCol w="1534886">
                      <a:extLst>
                        <a:ext uri="{9D8B030D-6E8A-4147-A177-3AD203B41FA5}">
                          <a16:colId xmlns:a16="http://schemas.microsoft.com/office/drawing/2014/main" val="2437217930"/>
                        </a:ext>
                      </a:extLst>
                    </a:gridCol>
                    <a:gridCol w="1763486">
                      <a:extLst>
                        <a:ext uri="{9D8B030D-6E8A-4147-A177-3AD203B41FA5}">
                          <a16:colId xmlns:a16="http://schemas.microsoft.com/office/drawing/2014/main" val="1695660749"/>
                        </a:ext>
                      </a:extLst>
                    </a:gridCol>
                    <a:gridCol w="1817914">
                      <a:extLst>
                        <a:ext uri="{9D8B030D-6E8A-4147-A177-3AD203B41FA5}">
                          <a16:colId xmlns:a16="http://schemas.microsoft.com/office/drawing/2014/main" val="3647168599"/>
                        </a:ext>
                      </a:extLst>
                    </a:gridCol>
                    <a:gridCol w="2469470">
                      <a:extLst>
                        <a:ext uri="{9D8B030D-6E8A-4147-A177-3AD203B41FA5}">
                          <a16:colId xmlns:a16="http://schemas.microsoft.com/office/drawing/2014/main" val="2258972009"/>
                        </a:ext>
                      </a:extLst>
                    </a:gridCol>
                  </a:tblGrid>
                  <a:tr h="725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9" t="-840" r="-573394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905" t="-840" r="-396032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2414" t="-840" r="-244138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5369" t="-840" r="-137584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840" r="-985" b="-5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629248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173913" r="-985" b="-811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6772940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273913" r="-985" b="-711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1006629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373913" r="-985" b="-611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956067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467143" r="-985" b="-5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859284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575362" r="-985" b="-410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5943212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675362" r="-985" b="-310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1833310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775362" r="-985" b="-210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9012389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875362" r="-985" b="-110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1605360"/>
                      </a:ext>
                    </a:extLst>
                  </a:tr>
                  <a:tr h="42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0837" t="-975362" r="-985" b="-10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9979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808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5F9C-40A6-7E2B-6A82-1E4445CF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10380"/>
          </a:xfrm>
        </p:spPr>
        <p:txBody>
          <a:bodyPr/>
          <a:lstStyle/>
          <a:p>
            <a:r>
              <a:rPr lang="en-US" dirty="0"/>
              <a:t>Painting a picture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405985F-0A41-0141-C670-2F5123BD05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47" t="17779" r="17893" b="29320"/>
          <a:stretch>
            <a:fillRect/>
          </a:stretch>
        </p:blipFill>
        <p:spPr>
          <a:xfrm>
            <a:off x="1523999" y="1534490"/>
            <a:ext cx="9840687" cy="426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80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83B3-A88E-DB96-33E8-DFD4C894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  <a:br>
              <a:rPr lang="en-US" dirty="0"/>
            </a:br>
            <a:r>
              <a:rPr lang="en-US" dirty="0"/>
              <a:t>(Profound?!)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DABF4-F53F-15D4-92C8-9A232FB95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178629"/>
            <a:ext cx="8915400" cy="2732592"/>
          </a:xfrm>
        </p:spPr>
        <p:txBody>
          <a:bodyPr/>
          <a:lstStyle/>
          <a:p>
            <a:r>
              <a:rPr lang="en-US" dirty="0"/>
              <a:t>Every parent node has one or two children.</a:t>
            </a:r>
          </a:p>
          <a:p>
            <a:r>
              <a:rPr lang="en-US" dirty="0"/>
              <a:t>Left-hand children only have one child.  Right-hand children and single children have two children.</a:t>
            </a:r>
          </a:p>
          <a:p>
            <a:r>
              <a:rPr lang="en-US" dirty="0"/>
              <a:t>Profound Observation #3: I don’t even need to do the calculations.  I can build the table from the single-double children pattern!!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05429-C06C-1FB9-15E5-EFD2DDBCFA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47" t="17779" r="17893" b="29320"/>
          <a:stretch>
            <a:fillRect/>
          </a:stretch>
        </p:blipFill>
        <p:spPr>
          <a:xfrm>
            <a:off x="5691704" y="192113"/>
            <a:ext cx="6301108" cy="298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3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B2005-8E79-85E8-8726-89BCE83A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1230-0603-251D-9C6E-E0AF35E6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3425566"/>
            <a:ext cx="8915400" cy="2616007"/>
          </a:xfrm>
        </p:spPr>
        <p:txBody>
          <a:bodyPr>
            <a:normAutofit/>
          </a:bodyPr>
          <a:lstStyle/>
          <a:p>
            <a:r>
              <a:rPr lang="en-US" dirty="0"/>
              <a:t>Profound observation (number whatever):  The number of entries in each row follows the Fibonacci sequence!!</a:t>
            </a:r>
          </a:p>
          <a:p>
            <a:r>
              <a:rPr lang="en-US" dirty="0"/>
              <a:t>The left side of the tree </a:t>
            </a:r>
            <a:r>
              <a:rPr lang="en-US" u="sng" dirty="0"/>
              <a:t>produces</a:t>
            </a:r>
            <a:r>
              <a:rPr lang="en-US" dirty="0"/>
              <a:t> a new copy of the tree.</a:t>
            </a:r>
          </a:p>
          <a:p>
            <a:r>
              <a:rPr lang="en-US" dirty="0"/>
              <a:t>The right side of the tree </a:t>
            </a:r>
            <a:r>
              <a:rPr lang="en-US" u="sng" dirty="0"/>
              <a:t>is</a:t>
            </a:r>
            <a:r>
              <a:rPr lang="en-US" dirty="0"/>
              <a:t> a copy of the tree.</a:t>
            </a:r>
          </a:p>
          <a:p>
            <a:r>
              <a:rPr lang="en-US" dirty="0"/>
              <a:t>So row 3 is a copy of row 1 plus a copy of row 2, and so 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D8889-74A1-DFE1-31C8-6F717F7BF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47" t="17779" r="17893" b="29320"/>
          <a:stretch>
            <a:fillRect/>
          </a:stretch>
        </p:blipFill>
        <p:spPr>
          <a:xfrm>
            <a:off x="5532908" y="192114"/>
            <a:ext cx="6459904" cy="313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9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0BE5-59A5-974C-81C9-BBCD2F87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10D1-5A6C-2A17-4FBC-EE7BA94D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CC3C7-0365-C6A9-B9B3-94EABB8A6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5771"/>
            <a:ext cx="8915400" cy="5007429"/>
          </a:xfrm>
        </p:spPr>
        <p:txBody>
          <a:bodyPr>
            <a:normAutofit/>
          </a:bodyPr>
          <a:lstStyle/>
          <a:p>
            <a:r>
              <a:rPr lang="en-US" dirty="0"/>
              <a:t>Yet another profound observation:  The second entries in the rows follow the Fibonacci sequence!!!!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F447B-0937-83E2-B645-E35EED6D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77" t="17460" r="16848" b="25714"/>
          <a:stretch>
            <a:fillRect/>
          </a:stretch>
        </p:blipFill>
        <p:spPr>
          <a:xfrm>
            <a:off x="2589212" y="2159164"/>
            <a:ext cx="9288903" cy="439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23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00F8-D948-92BA-8A3F-B0DA37F9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657" y="624110"/>
            <a:ext cx="9566955" cy="1280890"/>
          </a:xfrm>
        </p:spPr>
        <p:txBody>
          <a:bodyPr/>
          <a:lstStyle/>
          <a:p>
            <a:r>
              <a:rPr lang="en-US" dirty="0"/>
              <a:t>The Golden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D14B5-7F88-0A23-CD4C-CF62C4B50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37657" y="1540189"/>
                <a:ext cx="9566955" cy="3777622"/>
              </a:xfrm>
            </p:spPr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Fiddling a bit, we get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D14B5-7F88-0A23-CD4C-CF62C4B50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7657" y="1540189"/>
                <a:ext cx="9566955" cy="3777622"/>
              </a:xfrm>
              <a:blipFill>
                <a:blip r:embed="rId2"/>
                <a:stretch>
                  <a:fillRect l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1D567A9-CA84-C558-5C91-B46F70C6B3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77" t="17460" r="16848" b="25714"/>
          <a:stretch>
            <a:fillRect/>
          </a:stretch>
        </p:blipFill>
        <p:spPr>
          <a:xfrm>
            <a:off x="6858000" y="1"/>
            <a:ext cx="5248715" cy="21335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6B092C5-BF0A-F2DC-5376-60BB1C9534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05784"/>
                  </p:ext>
                </p:extLst>
              </p:nvPr>
            </p:nvGraphicFramePr>
            <p:xfrm>
              <a:off x="2318883" y="2821079"/>
              <a:ext cx="7783060" cy="4008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5765">
                      <a:extLst>
                        <a:ext uri="{9D8B030D-6E8A-4147-A177-3AD203B41FA5}">
                          <a16:colId xmlns:a16="http://schemas.microsoft.com/office/drawing/2014/main" val="1712425257"/>
                        </a:ext>
                      </a:extLst>
                    </a:gridCol>
                    <a:gridCol w="1945765">
                      <a:extLst>
                        <a:ext uri="{9D8B030D-6E8A-4147-A177-3AD203B41FA5}">
                          <a16:colId xmlns:a16="http://schemas.microsoft.com/office/drawing/2014/main" val="3138922174"/>
                        </a:ext>
                      </a:extLst>
                    </a:gridCol>
                    <a:gridCol w="1945765">
                      <a:extLst>
                        <a:ext uri="{9D8B030D-6E8A-4147-A177-3AD203B41FA5}">
                          <a16:colId xmlns:a16="http://schemas.microsoft.com/office/drawing/2014/main" val="3821995179"/>
                        </a:ext>
                      </a:extLst>
                    </a:gridCol>
                    <a:gridCol w="1945765">
                      <a:extLst>
                        <a:ext uri="{9D8B030D-6E8A-4147-A177-3AD203B41FA5}">
                          <a16:colId xmlns:a16="http://schemas.microsoft.com/office/drawing/2014/main" val="3726325762"/>
                        </a:ext>
                      </a:extLst>
                    </a:gridCol>
                  </a:tblGrid>
                  <a:tr h="3490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Lower bound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Upper bound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7274506"/>
                      </a:ext>
                    </a:extLst>
                  </a:tr>
                  <a:tr h="569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651218"/>
                      </a:ext>
                    </a:extLst>
                  </a:tr>
                  <a:tr h="569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961875"/>
                      </a:ext>
                    </a:extLst>
                  </a:tr>
                  <a:tr h="5763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=1.25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≈1.667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678782"/>
                      </a:ext>
                    </a:extLst>
                  </a:tr>
                  <a:tr h="5711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6136536"/>
                      </a:ext>
                    </a:extLst>
                  </a:tr>
                  <a:tr h="571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≈1.444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=1.625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0199293"/>
                      </a:ext>
                    </a:extLst>
                  </a:tr>
                  <a:tr h="571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≈1.615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=1.75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81852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6B092C5-BF0A-F2DC-5376-60BB1C9534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05784"/>
                  </p:ext>
                </p:extLst>
              </p:nvPr>
            </p:nvGraphicFramePr>
            <p:xfrm>
              <a:off x="2318883" y="2821079"/>
              <a:ext cx="7783060" cy="4008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5765">
                      <a:extLst>
                        <a:ext uri="{9D8B030D-6E8A-4147-A177-3AD203B41FA5}">
                          <a16:colId xmlns:a16="http://schemas.microsoft.com/office/drawing/2014/main" val="1712425257"/>
                        </a:ext>
                      </a:extLst>
                    </a:gridCol>
                    <a:gridCol w="1945765">
                      <a:extLst>
                        <a:ext uri="{9D8B030D-6E8A-4147-A177-3AD203B41FA5}">
                          <a16:colId xmlns:a16="http://schemas.microsoft.com/office/drawing/2014/main" val="3138922174"/>
                        </a:ext>
                      </a:extLst>
                    </a:gridCol>
                    <a:gridCol w="1945765">
                      <a:extLst>
                        <a:ext uri="{9D8B030D-6E8A-4147-A177-3AD203B41FA5}">
                          <a16:colId xmlns:a16="http://schemas.microsoft.com/office/drawing/2014/main" val="3821995179"/>
                        </a:ext>
                      </a:extLst>
                    </a:gridCol>
                    <a:gridCol w="1945765">
                      <a:extLst>
                        <a:ext uri="{9D8B030D-6E8A-4147-A177-3AD203B41FA5}">
                          <a16:colId xmlns:a16="http://schemas.microsoft.com/office/drawing/2014/main" val="372632576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3" t="-8333" r="-300625" b="-10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627" t="-8333" r="-201567" b="-10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Lower bound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Upper bound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7274506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65000" r="-100937" b="-5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940" t="-65000" r="-1254" b="-50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651218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6667" r="-100937" b="-40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940" t="-166667" r="-1254" b="-40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96187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61386" r="-100937" b="-298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940" t="-261386" r="-1254" b="-298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678782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68687" r="-100937" b="-20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940" t="-368687" r="-1254" b="-2040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6136536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64000" r="-100937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940" t="-464000" r="-1254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0199293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564000" r="-100937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940" t="-564000" r="-1254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81852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3381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9FD9-FF6A-DAB6-4E05-36E4128D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Golden Mean!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8625D-045C-FD85-565A-ABC1B335CE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 far, we have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1.615&lt;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≤1.625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dirty="0"/>
                  <a:t>In fact,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≈1.618034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8625D-045C-FD85-565A-ABC1B335CE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36990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762</TotalTime>
  <Words>1287</Words>
  <Application>Microsoft Office PowerPoint</Application>
  <PresentationFormat>Widescreen</PresentationFormat>
  <Paragraphs>277</Paragraphs>
  <Slides>20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Cambria Math</vt:lpstr>
      <vt:lpstr>Century Gothic</vt:lpstr>
      <vt:lpstr>Wingdings 3</vt:lpstr>
      <vt:lpstr>Wisp</vt:lpstr>
      <vt:lpstr>Golden Mean</vt:lpstr>
      <vt:lpstr>Problem 11651 – American Mathematical Monthly, June/July 2012</vt:lpstr>
      <vt:lpstr>Huh?  ⌊n/φ⌋  (greatest integer function)</vt:lpstr>
      <vt:lpstr>Notation for sanity:  n^′=p_φ (n)=⌊n/φ⌋</vt:lpstr>
      <vt:lpstr>Basics – the sum</vt:lpstr>
      <vt:lpstr>Profound observation #1</vt:lpstr>
      <vt:lpstr>Comparing  p(n+1) and S(n)</vt:lpstr>
      <vt:lpstr>The goal:   p(n+1)=S(n)</vt:lpstr>
      <vt:lpstr>The goal:   p(n+1)=S(n)</vt:lpstr>
      <vt:lpstr>The goal:   p(n+1)=S(n)</vt:lpstr>
      <vt:lpstr>Suppose it worked all the time…</vt:lpstr>
      <vt:lpstr>Profound observation #2</vt:lpstr>
      <vt:lpstr>Building the rest… p(n+1)=n-p(p(n)+1)</vt:lpstr>
      <vt:lpstr>Table of values – assumes φ&gt;1</vt:lpstr>
      <vt:lpstr>Painting a picture</vt:lpstr>
      <vt:lpstr>Observations (Profound?!)</vt:lpstr>
      <vt:lpstr>Fibonacci??</vt:lpstr>
      <vt:lpstr>Fibonacci!!</vt:lpstr>
      <vt:lpstr>The Golden Mean</vt:lpstr>
      <vt:lpstr>The Golden Mean!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Ward</dc:creator>
  <cp:lastModifiedBy>John Ward</cp:lastModifiedBy>
  <cp:revision>2</cp:revision>
  <dcterms:created xsi:type="dcterms:W3CDTF">2025-09-19T23:10:06Z</dcterms:created>
  <dcterms:modified xsi:type="dcterms:W3CDTF">2025-09-21T16:26:48Z</dcterms:modified>
</cp:coreProperties>
</file>